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enor Sans" charset="1" panose="02000000000000000000"/>
      <p:regular r:id="rId18"/>
    </p:embeddedFont>
    <p:embeddedFont>
      <p:font typeface="Clear Sans" charset="1" panose="020B0503030202020304"/>
      <p:regular r:id="rId19"/>
    </p:embeddedFont>
    <p:embeddedFont>
      <p:font typeface="Clear Sans Medium" charset="1" panose="020B0603030202020304"/>
      <p:regular r:id="rId20"/>
    </p:embeddedFont>
    <p:embeddedFont>
      <p:font typeface="Clear Sans Bold" charset="1" panose="020B08030302020203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29113"/>
            <a:ext cx="9763125" cy="3838439"/>
            <a:chOff x="0" y="0"/>
            <a:chExt cx="13017500" cy="5117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372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E6E6E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PCB Defect Detection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421644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PRESENTED BY [VISHWA ADHESH SK]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E6E6EA"/>
                </a:solidFill>
                <a:latin typeface="Tenor Sans"/>
                <a:ea typeface="Tenor Sans"/>
                <a:cs typeface="Tenor Sans"/>
                <a:sym typeface="Tenor Sans"/>
              </a:rPr>
              <a:t>Understanding PCB Defect Detection Challenges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4797448"/>
            <a:chOff x="0" y="0"/>
            <a:chExt cx="7264400" cy="639659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INEFFICIENCIES AND ERRORS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Manual inspection processes often lead to significant </a:t>
              </a:r>
              <a:r>
                <a:rPr lang="en-US" b="true" sz="2099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inefficiencies</a:t>
              </a: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errors, affecting the overall quality of PCB manufacturing.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58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THE ROLE OF AUTOMATION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459440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Automating defect detection minimizes human error, enhances </a:t>
              </a:r>
              <a:r>
                <a:rPr lang="en-US" b="true" sz="2099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speed</a:t>
              </a: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accuracy, and ultimately drives down production costs significantly.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E6E6EA"/>
                </a:solidFill>
                <a:latin typeface="Tenor Sans"/>
                <a:ea typeface="Tenor Sans"/>
                <a:cs typeface="Tenor Sans"/>
                <a:sym typeface="Tenor Sans"/>
              </a:rPr>
              <a:t>Motivation for Automation Using AI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5587836"/>
            <a:chOff x="0" y="0"/>
            <a:chExt cx="7264400" cy="745044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1093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LIMITATIONS OF TRADITIONAL INSPECTION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441745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Traditional inspection methods suffer from </a:t>
              </a:r>
              <a:r>
                <a:rPr lang="en-US" b="true" sz="2099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human fatigue</a:t>
              </a: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inconsistency, leading to errors that compromise PCB quality and overall production efficiency.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87608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BENEFITS OF AI ADOPTION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513291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AI-driven automation offers </a:t>
              </a:r>
              <a:r>
                <a:rPr lang="en-US" b="true" sz="2099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scalability</a:t>
              </a: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improved defect recognition, resulting in more reliable inspections and significant cost savings for manufacturers.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5526406"/>
            <a:chOff x="0" y="0"/>
            <a:chExt cx="13017500" cy="736854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2772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FROM IMAGE CAPTURE TO OUTPUT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21547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This system integrates image capture, processing, defect detection, classification, and reporting to enhance PCB quality control using advanced AI techniques.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E6E6E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Overview of AI-Powered Defect Detection System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75288" y="0"/>
            <a:ext cx="10012712" cy="5643641"/>
          </a:xfrm>
          <a:custGeom>
            <a:avLst/>
            <a:gdLst/>
            <a:ahLst/>
            <a:cxnLst/>
            <a:rect r="r" b="b" t="t" l="l"/>
            <a:pathLst>
              <a:path h="5643641" w="10012712">
                <a:moveTo>
                  <a:pt x="0" y="0"/>
                </a:moveTo>
                <a:lnTo>
                  <a:pt x="10012712" y="0"/>
                </a:lnTo>
                <a:lnTo>
                  <a:pt x="10012712" y="5643641"/>
                </a:lnTo>
                <a:lnTo>
                  <a:pt x="0" y="564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867" r="-69019" b="-3489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75288" y="5884402"/>
            <a:ext cx="10184156" cy="4170480"/>
          </a:xfrm>
          <a:custGeom>
            <a:avLst/>
            <a:gdLst/>
            <a:ahLst/>
            <a:cxnLst/>
            <a:rect r="r" b="b" t="t" l="l"/>
            <a:pathLst>
              <a:path h="4170480" w="10184156">
                <a:moveTo>
                  <a:pt x="0" y="0"/>
                </a:moveTo>
                <a:lnTo>
                  <a:pt x="10184157" y="0"/>
                </a:lnTo>
                <a:lnTo>
                  <a:pt x="10184157" y="4170480"/>
                </a:lnTo>
                <a:lnTo>
                  <a:pt x="0" y="4170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1566" r="0" b="-1579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3001207" y="1158602"/>
            <a:ext cx="1407795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40"/>
              </a:lnSpc>
            </a:pPr>
            <a:r>
              <a:rPr lang="en-US" sz="5200" spc="-104">
                <a:solidFill>
                  <a:srgbClr val="E6E6EA"/>
                </a:solidFill>
                <a:latin typeface="Tenor Sans"/>
                <a:ea typeface="Tenor Sans"/>
                <a:cs typeface="Tenor Sans"/>
                <a:sym typeface="Tenor Sans"/>
              </a:rPr>
              <a:t>Model Evaluation Metrics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ACCURACY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Accuracy measures the proportion of correctly identified defects, providing an overall assessment of the model's performance in defect detection.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2145" y="2618009"/>
            <a:ext cx="5448300" cy="2312513"/>
            <a:chOff x="0" y="0"/>
            <a:chExt cx="7264400" cy="308335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PRECISION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Precision indicates the percentage of true positive results among all positive identifications, reflecting the model's reliability in defect classification.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1550" y="7609224"/>
            <a:ext cx="5448300" cy="2312513"/>
            <a:chOff x="0" y="0"/>
            <a:chExt cx="7264400" cy="308335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RECALL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Recall assesses the model's ability to identify all actual defects, highlighting its effectiveness in minimizing false negatives during inspections.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06116" y="-629149"/>
            <a:ext cx="9144000" cy="5036637"/>
            <a:chOff x="0" y="0"/>
            <a:chExt cx="1566310" cy="862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6310" cy="862745"/>
            </a:xfrm>
            <a:custGeom>
              <a:avLst/>
              <a:gdLst/>
              <a:ahLst/>
              <a:cxnLst/>
              <a:rect r="r" b="b" t="t" l="l"/>
              <a:pathLst>
                <a:path h="862745" w="1566310">
                  <a:moveTo>
                    <a:pt x="0" y="0"/>
                  </a:moveTo>
                  <a:lnTo>
                    <a:pt x="1566310" y="0"/>
                  </a:lnTo>
                  <a:lnTo>
                    <a:pt x="1566310" y="862745"/>
                  </a:lnTo>
                  <a:lnTo>
                    <a:pt x="0" y="862745"/>
                  </a:lnTo>
                  <a:close/>
                </a:path>
              </a:pathLst>
            </a:custGeom>
            <a:blipFill>
              <a:blip r:embed="rId2"/>
              <a:stretch>
                <a:fillRect l="0" t="-1060" r="0" b="-106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487256" y="4569413"/>
            <a:ext cx="8924569" cy="4951074"/>
          </a:xfrm>
          <a:custGeom>
            <a:avLst/>
            <a:gdLst/>
            <a:ahLst/>
            <a:cxnLst/>
            <a:rect r="r" b="b" t="t" l="l"/>
            <a:pathLst>
              <a:path h="4951074" w="8924569">
                <a:moveTo>
                  <a:pt x="0" y="0"/>
                </a:moveTo>
                <a:lnTo>
                  <a:pt x="8924569" y="0"/>
                </a:lnTo>
                <a:lnTo>
                  <a:pt x="8924569" y="4951075"/>
                </a:lnTo>
                <a:lnTo>
                  <a:pt x="0" y="4951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39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1925" y="1562100"/>
            <a:ext cx="9772650" cy="5158784"/>
            <a:chOff x="0" y="0"/>
            <a:chExt cx="13030200" cy="687837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2700" y="472772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STREAMLINED DASHBOARD FEATURES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2700" y="592154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user interface allows easy image uploads, providing </a:t>
              </a:r>
              <a:r>
                <a:rPr lang="en-US" b="true" sz="2099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real-time feedback</a:t>
              </a: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on processing status and visualizing detected defects for efficient inspection.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E6E6E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Enhancing User Interaction with the System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E6E6EA"/>
                </a:solidFill>
                <a:latin typeface="Tenor Sans"/>
                <a:ea typeface="Tenor Sans"/>
                <a:cs typeface="Tenor Sans"/>
                <a:sym typeface="Tenor Sans"/>
              </a:rPr>
              <a:t>Enhanced User Experience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5165070"/>
            <a:chOff x="0" y="0"/>
            <a:chExt cx="7264400" cy="68867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DASHBOARD FEATURES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dashboard includes </a:t>
              </a:r>
              <a:r>
                <a:rPr lang="en-US" b="true" sz="2099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intuitive controls</a:t>
              </a: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for image uploads, processing status updates, and easy navigation for defect visualization, ensuring user-friendly interaction.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REAL-TIME FEEDBACK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4960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Users receive immediate feedback during processing, allowing adjustments to be made on-the-fly, which enhances efficiency and improves overall inspection outcomes.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470458"/>
            <a:chOff x="0" y="0"/>
            <a:chExt cx="13017500" cy="596061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1979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IMAGE PROCESSING PIPELINE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13617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backend integrates various components, handling image processing, model inference, and data storage, ensuring seamless communication between the frontend and backend systems.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E6E6E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Backend Workflow and System Integration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E6E6EA"/>
                </a:solidFill>
                <a:latin typeface="Tenor Sans"/>
                <a:ea typeface="Tenor Sans"/>
                <a:cs typeface="Tenor Sans"/>
                <a:sym typeface="Tenor Sans"/>
              </a:rPr>
              <a:t>Seamless Integration and Scalability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5165070"/>
            <a:chOff x="0" y="0"/>
            <a:chExt cx="7264400" cy="68867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FRONTEND COLLABORATION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AI detection system integrates with the frontend interface, allowing for efficient data flow and smooth user interactions during inspections.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SYSTEM ARCHITECTURE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4960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 robust architecture supports scalability, ensuring the system can handle increased workloads and adapt to future technological advancements in PCB inspection.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2606" y="2830987"/>
            <a:ext cx="7230729" cy="7456013"/>
          </a:xfrm>
          <a:custGeom>
            <a:avLst/>
            <a:gdLst/>
            <a:ahLst/>
            <a:cxnLst/>
            <a:rect r="r" b="b" t="t" l="l"/>
            <a:pathLst>
              <a:path h="7456013" w="7230729">
                <a:moveTo>
                  <a:pt x="0" y="0"/>
                </a:moveTo>
                <a:lnTo>
                  <a:pt x="7230729" y="0"/>
                </a:lnTo>
                <a:lnTo>
                  <a:pt x="7230729" y="7456013"/>
                </a:lnTo>
                <a:lnTo>
                  <a:pt x="0" y="7456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3127" t="-31113" r="0" b="-696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E6E6EA"/>
                </a:solidFill>
                <a:latin typeface="Tenor Sans"/>
                <a:ea typeface="Tenor Sans"/>
                <a:cs typeface="Tenor Sans"/>
                <a:sym typeface="Tenor Sans"/>
              </a:rPr>
              <a:t>Output Results and Export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13538" y="2830987"/>
            <a:ext cx="5448300" cy="2312513"/>
            <a:chOff x="0" y="0"/>
            <a:chExt cx="7264400" cy="308335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REVIEW PROCESS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Detected defect images can be reviewed directly from the dashboard, allowing quality assurance personnel to analyze issues effectively and efficiently.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3538" y="5511122"/>
            <a:ext cx="5448300" cy="2312513"/>
            <a:chOff x="0" y="0"/>
            <a:chExt cx="7264400" cy="308335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DOWNLOAD FEATURES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Users can easily download defect images and reports through intuitive dashboard features, ensuring seamless access to vital documentation for auditing purposes.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8103" y="7606865"/>
            <a:ext cx="5448300" cy="2680135"/>
            <a:chOff x="0" y="0"/>
            <a:chExt cx="7264400" cy="357351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TRACEABILITY BENEFITS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46193"/>
              <a:ext cx="7264400" cy="2427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system enhances traceability by documenting defect occurrences, which supports quality control processes and compliance with industry standards for manufacturing.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E6E6EA"/>
                </a:solidFill>
                <a:latin typeface="Tenor Sans"/>
                <a:ea typeface="Tenor Sans"/>
                <a:cs typeface="Tenor Sans"/>
                <a:sym typeface="Tenor Sans"/>
              </a:rPr>
              <a:t>Benefits of AI-Based PCB Inspection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5165070"/>
            <a:chOff x="0" y="0"/>
            <a:chExt cx="7264400" cy="68867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ENHANCED ACCURACY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Implementing AI in PCB inspection </a:t>
              </a:r>
              <a:r>
                <a:rPr lang="en-US" b="true" sz="2099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significantly improves accuracy</a:t>
              </a: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reducing human error and ensuring that defects are detected consistently.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COST EFFICIENCY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4960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Automation leads to </a:t>
              </a:r>
              <a:r>
                <a:rPr lang="en-US" b="true" sz="2099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faster inspections</a:t>
              </a:r>
              <a:r>
                <a:rPr lang="en-US" sz="2099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lowering operational costs while boosting productivity and overall manufacturing quality in the PCB industry.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1562100"/>
            <a:ext cx="112014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E6E6EA"/>
                </a:solidFill>
                <a:latin typeface="Tenor Sans"/>
                <a:ea typeface="Tenor Sans"/>
                <a:cs typeface="Tenor Sans"/>
                <a:sym typeface="Tenor Sans"/>
              </a:rPr>
              <a:t>Conclusion and Future Directions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5143500"/>
            <a:ext cx="8324850" cy="2559409"/>
            <a:chOff x="0" y="0"/>
            <a:chExt cx="11099800" cy="341254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u="none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EMAIL ADDRESS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67135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vishwavsb65@gmail.com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297485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6E6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PHONE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940740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E6E6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9042929345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PCB Defect Detection</dc:description>
  <dc:identifier>DAG_PqQ2E2Y</dc:identifier>
  <dcterms:modified xsi:type="dcterms:W3CDTF">2011-08-01T06:04:30Z</dcterms:modified>
  <cp:revision>1</cp:revision>
  <dc:title>Presentation - PCB Defect Detection</dc:title>
</cp:coreProperties>
</file>